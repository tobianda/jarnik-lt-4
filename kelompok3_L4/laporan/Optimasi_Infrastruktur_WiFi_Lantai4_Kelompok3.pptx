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60A5FA"/>
                </a:solidFill>
                <a:latin typeface="Arial"/>
              </a:defRPr>
            </a:pPr>
            <a:r>
              <a:t>JARINGAN NIRKABEL (CIF65217) — PRAKTIKUM LAPANGAN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Optimasi Infrastruktur Wi-Fi Lantai 4</a:t>
            </a:r>
          </a:p>
          <a:p>
            <a:pPr>
              <a:spcAft>
                <a:spcPts val="3600"/>
              </a:spcAft>
              <a:defRPr sz="1700">
                <a:solidFill>
                  <a:srgbClr val="E2E8F0"/>
                </a:solidFill>
                <a:latin typeface="Calibri"/>
              </a:defRPr>
            </a:pPr>
            <a:r>
              <a:t>Pemetaan Kualitas Sinyal 5 GHz, Analisis Co-Channel Interference, dan Solusi Rekayasa Jaringan Gedung F FILKOM UB</a:t>
            </a:r>
          </a:p>
          <a:p>
            <a:pPr>
              <a:defRPr sz="1150" b="1">
                <a:solidFill>
                  <a:srgbClr val="94A3B8"/>
                </a:solidFill>
                <a:latin typeface="Arial"/>
              </a:defRPr>
            </a:pPr>
            <a:r>
              <a:t>KELOMPOK 3 (LANTAI 4): Tobias Andra Valentino (245150200111076), Dave, Jason, Hisyam, Willy, Edgar, Joshua, Nada, Saskia, Charisa, Raisya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Outline Presentasi &amp; Sistematika Pembahasan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01. Latar Belakang &amp; Urgensi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Karakteristik spektrum 5 GHz vs 2.4 GHz dan profil bangunan Gedung F FILKOM.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02. Metodologi &amp; Denah Lantai 4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Sistem grid kartesius 43 titik ukur, survei pasif 3 siklus, active test, dan roaming.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03. Deskripsi Masalah &amp; Beban User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Estimasi 400+ user aktif serentak dan fungsi ruang kuliah R.4.1–R.4.6 &amp; Sayap Barat.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04. Hasil Pengukuran Empiris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Heatmap kuat sinyal 5 GHz, klasifikasi status titik, dan 97.7% cakupan prima.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0040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33756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05. Pemetaan AP &amp; Floor Bleed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Analisis 6 AP fisik vs 28 radio terdeteksi akibat kebocoran vertikal lantai 2 &amp;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0040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33756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06. Investigasi 3 Area Lemah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Akar masalah L4-002 (toilet loss 25%), L4-012 (outdoor -70 dBm), L4-041 (loss 5% CCI).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07. Desain Solusi 1: Sumber Daya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Alokasi kanal non-overlapping, standarisasi 40 MHz, pemanfaatan kanal DFS, dan Tx Power.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98348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08. Desain Solusi 2: Penempatan AP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Arsitektur In-Room AP, penambahan Micro-AP outdoor balkon, dan tuning 802.11k/v/r.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983480"/>
            <a:ext cx="301752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09. Pembahasan &amp; Kesimpulan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Analisis kelayakan teknis, biaya-manfaat nol rupiah, dan referensi standar IEEE.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Latar Belakang: Urgensi Kualitas Wi-Fi 5 GHz di Gedung F FILKOM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Mengapa Fokus pada Pita 5 GHz?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Kapasitas Spektrum Tinggi: Menyediakan hingga 24 kanal non-overlapping berlebar 20 MHz di Indonesia, jauh lebih unggul dibanding 2.4 GHz yang hanya memiliki 3 kanal ortogonal (1, 6, 11).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Bebas Interferensi ISM: Tidak terganggu oleh perangkat Bluetooth, microwave oven, atau peripheral nirkabel konsumen.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Dukungan Modulasi Modern: Mendukung modulasi 256-QAM (802.11ac) dan 1024-QAM (802.11ax) untuk throughput data ratusan Mbps.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Kebutuhan Riil Kampus: Civitas akademika FILKOM mengakses repositori kode, video tutorial HD, streaming kuliah, dan praktikum berbasis cloud computing secara masif.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C2626"/>
                </a:solidFill>
              </a:defRPr>
            </a:pPr>
            <a:r>
              <a:t>Tantangan Fisik Propagasi 5 GHz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Free Space Path Loss (FSPL) Tinggi: Berdasarkan persamaan Friis, redaman pada jarak yang sama 6–8 dB lebih tinggi daripada sinyal 2.4 GHz.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Atenuasi Material Sangat Kuat: Dinding bata/beton meredam 10–18 dB, kaca eksterior meredam 7–14 dB, dan pelat lantai beton bertulang meredam 18–24 dB.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Radius Sel Cakupan Lebih Sempit: Penempatan AP yang keliru (misal di lorong saja) gagal menembus ruang kelas tertutup dengan daya yang memadai.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Resiko Co-Channel Interference (CCI): Alokasi kanal yang tidak terencana di gedung bertingkat memicu kontensi airtime dan degradasi performa.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Metodologi Survei &amp; Denah Kartesius 43 Titik Ukur</a:t>
            </a:r>
          </a:p>
        </p:txBody>
      </p:sp>
      <p:pic>
        <p:nvPicPr>
          <p:cNvPr id="3" name="Picture 2" descr="denah_sketsa_kartes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402221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554480"/>
            <a:ext cx="42062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73736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Parameter Desain Site Survey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Grid Sumbu Struktural: Mengacu pada as kolom gedung: Kolom W3..A dan Baris 6..3. Skala kalibrasi 22.5 px/m.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Total 43 Titik Master: Mencakup seluruh ruang kelas (R.4.1–R.4.6), Sayap Barat 1–6, lorong, toilet, lift, dan teras outdoor.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Survei Pasif (3 Siklus): 3.515 baris data BSSID terkumpul via Native Wifi API Windows (wlan_win.py) &amp; Linux iw scan.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Survei Aktif (37 Titik): Pengukuran RTT, jitter, dan packet loss via TCP port 443 filkom.ub.ac.id (karena ICMP diblokir gateway).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Pencatatan Roaming: Tracking transisi BSSID dan lonjakan latensi saat berpindah zona koridor.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Deskripsi Masalah: Beban Pengguna Aktif &amp; Fungsi Ruangan (PPT Slide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Kepadatan Mahasiswa di Jam Sibuk</a:t>
            </a:r>
          </a:p>
          <a:p>
            <a:pPr>
              <a:spcAft>
                <a:spcPts val="1400"/>
              </a:spcAft>
              <a:defRPr sz="1100" b="1">
                <a:solidFill>
                  <a:srgbClr val="0F172A"/>
                </a:solidFill>
              </a:defRPr>
            </a:pPr>
            <a:r>
              <a:t>350 – 450 Perangkat Simultan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6 Ruang Kelas Tengah (R.4.1 s.d. R.4.6): Kapasitas 35–45 kursi (potensi 250+ perangkat).</a:t>
            </a:r>
            <a:br/>
            <a:r>
              <a:t>• 6 Ruang Kelas Sayap Barat: Kapasitas 30 kursi per ruangan (potensi 180+ perangkat).</a:t>
            </a:r>
            <a:br/>
            <a:r>
              <a:t>• Rata-rata 1.5 perangkat per mahasiswa (Laptop untuk coding + Smartphone).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Fungsi Ruangan &amp; Karakteristik Trafik</a:t>
            </a:r>
          </a:p>
          <a:p>
            <a:pPr>
              <a:spcAft>
                <a:spcPts val="1400"/>
              </a:spcAft>
              <a:defRPr sz="1100" b="1">
                <a:solidFill>
                  <a:srgbClr val="0F172A"/>
                </a:solidFill>
              </a:defRPr>
            </a:pPr>
            <a:r>
              <a:t>Trafik Interaktif &amp; Bandwidth-Heavy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Praktikum &amp; Tugas: Unduhan dependensi besar (npm, pip, docker) secara serentak.</a:t>
            </a:r>
            <a:br/>
            <a:r>
              <a:t>• Ujian Berbasis CBT: Wajib latensi rendah (&lt; 50 ms) dan nol packet loss.</a:t>
            </a:r>
            <a:br/>
            <a:r>
              <a:t>• Streaming &amp; Telekonferensi: Membutuhkan jitter stabil (&lt; 10 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DC2626"/>
                </a:solidFill>
              </a:defRPr>
            </a:pPr>
            <a:r>
              <a:t>Keterbatasan Desain Eksisting</a:t>
            </a:r>
          </a:p>
          <a:p>
            <a:pPr>
              <a:spcAft>
                <a:spcPts val="1400"/>
              </a:spcAft>
              <a:defRPr sz="1100" b="1">
                <a:solidFill>
                  <a:srgbClr val="0F172A"/>
                </a:solidFill>
              </a:defRPr>
            </a:pPr>
            <a:r>
              <a:t>Asimetri Kapasitas &amp; Redaman Dinding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Redaman Dinding Beton: Memisahkan koridor dan kelas dengan loss 12–15 dB.</a:t>
            </a:r>
            <a:br/>
            <a:r>
              <a:t>• Ketiadaan AP Luar: Teras balkon outdoor tidak terlayani dengan layak.</a:t>
            </a:r>
            <a:br/>
            <a:r>
              <a:t>• Penumpukan Kanal: Sebagian besar AP terkonsentrasi di kanal UNII-3.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Hasil Pengukuran: Heatmap Kuat Sinyal Wi-Fi 5 GHz Lantai 4</a:t>
            </a:r>
          </a:p>
        </p:txBody>
      </p:sp>
      <p:pic>
        <p:nvPicPr>
          <p:cNvPr id="3" name="Picture 2" descr="L4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386665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554480"/>
            <a:ext cx="42062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73736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Interpretasi Spasial Heatmap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Cakupan Prima (97.7%): Mayoritas area berwarna hijau pekat (-35 s.d. -55 dBm), jauh melampaui batas standar voice/video IEEE (-67 dBm).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Median Sinyal Sangat Kuat: Median RSSI berada di -45.8 dBm, menjamin negosiasi PHY data rate tertinggi.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Zero Blank Spot Total: 0.0% titik ukur mengalami sinyal &lt; -80 dBm.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Klaster Sayap Barat Kuat: Didukung 4 AP fisik in-room (AP-L4-03 s.d. AP-L4-06) dengan sebaran hijau merata.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Penurunan di Teras Luar: Titik L4-012 merosot ke -70.2 dBm akibat redaman kaca fasad gedung.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Peta Status Kualitas Layanan &amp; Evaluasi Titik Ukur</a:t>
            </a:r>
          </a:p>
        </p:txBody>
      </p:sp>
      <p:pic>
        <p:nvPicPr>
          <p:cNvPr id="3" name="Picture 2" descr="L4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34428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554480"/>
            <a:ext cx="42062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73736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Distribusi Status Titik (43 Titik)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14 Titik BAIK (32.6%): Ditandai titik hijau. Memenuhi syarat sinyal kuat, nol packet loss, dan latensi rendah stabil.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26 Titik PERHATIAN (60.5%): Ditandai titik kuning. Sinyal kuat namun terpengaruh Co-Channel Interference (CCI &gt; 2 radio) dari kanal bertumpuk.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3 Titik BURUK (7.0%): Ditandai titik merah: L4-002 (toilet), L4-012 (outdoor), L4-041 (kelas Sayap 4).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0 Titik KRITIS (0.0%): Tidak ada titik yang terputus total.</a:t>
            </a:r>
          </a:p>
          <a:p>
            <a:pPr>
              <a:spcAft>
                <a:spcPts val="700"/>
              </a:spcAft>
              <a:defRPr sz="1050">
                <a:solidFill>
                  <a:srgbClr val="1E293B"/>
                </a:solidFill>
              </a:defRPr>
            </a:pPr>
            <a:r>
              <a:t>• Redundansi AP Cadangan: 95.3% titik memiliki minimal satu backup AP &gt;= -75 dBm untuk keselamatan roaming.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Pemetaan Access Point: Posisi Fisik vs Fenomena Floor Bleed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6 AP Fisik Terpasang di Plafon Lantai 4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AP-L4-01 (R.4.4 - Tengah): Kanal 40 | c0:c7:0a:98:3a:52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AP-L4-02 (R.4.3 - Tengah): Kanal 161 | c8:a6:08:8b:3e:01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AP-L4-03 (R. Sayap 1): Kanal 161 | c0:c7:0a:98:34:11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AP-L4-04 (R. Sayap 3): Kanal 40 | c0:c7:0a:98:3a:c1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AP-L4-05 (R. Sayap 4): Kanal 157 | c8:a6:08:8b:3e:00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AP-L4-06 (R. Sayap 6): Kanal 153 | c0:c7:0a:98:38:b1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t>Temuan Floor Bleed (Lantai 2 &amp; 3)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28 Radio Terdeteksi: Padahal hanya ada 6 AP fisik di Lantai 4. Artinya terdapat 22 radio sinyal tembus lantai!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Atenuasi Pelat Lantai: Redaman pelat beton Lantai 3 ke Lantai 4 berkisar 18–22 dB, namun daya AP bawah terlalu kuat.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Dampak Floor Bleed: Menaikkan noise floor, memicu kontensi Clear Channel Assessment (CCA busy), dan membuang airtime.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Solusi Direkomendasikan: Turunkan Transmit Power AP lantai 2 &amp; 3 sebesar 6 dB agar tidak bocor ke atas.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Investigasi Mendalam Akar Masalah 3 Area Lemah (L4_area_lemah.csv)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DC2626"/>
                </a:solidFill>
              </a:defRPr>
            </a:pPr>
            <a:r>
              <a:t>Titik L4-002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Depan Pintu Toilet (P/W)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RSSI: -44.0 dBm (Sinyal Sangat Kuat)</a:t>
            </a:r>
            <a:br/>
            <a:r>
              <a:t>• Packet Loss: 25.0% (Tinggi / Kritis)</a:t>
            </a:r>
            <a:br/>
            <a:br/>
            <a:r>
              <a:t>AKAR MASALAH:</a:t>
            </a:r>
            <a:br/>
            <a:r>
              <a:t>Multipath Fading destruktif akibat pantulan sinyal dari dinding partisi instalasi pipa basah dan keramik toilet yang menimbulkan dekonstruksi fase gelombang radio.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D97706"/>
                </a:solidFill>
              </a:defRPr>
            </a:pPr>
            <a:r>
              <a:t>Titik L4-012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Teras Luar / Outdoor Kanan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RSSI: -70.2 dBm (Sinyal Terlemah Lantai 4)</a:t>
            </a:r>
            <a:br/>
            <a:r>
              <a:t>• Packet Loss: 0.0% (Latensi Rendah)</a:t>
            </a:r>
            <a:br/>
            <a:br/>
            <a:r>
              <a:t>AKAR MASALAH:</a:t>
            </a:r>
            <a:br/>
            <a:r>
              <a:t>Coverage Gap eksterior. Sinyal AP dalam kelas teredam dinding bata (~10 dB) dan kaca tebal fasad (~8 dB) tanpa adanya AP outdoor pendukung.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DC2626"/>
                </a:solidFill>
              </a:defRPr>
            </a:pPr>
            <a:r>
              <a:t>Titik L4-041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R. Kelas Sayap 4 (Selatan-Barat)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RSSI: -42.6 dBm (Sinyal Kuat)</a:t>
            </a:r>
            <a:br/>
            <a:r>
              <a:t>• Packet Loss: 5.0% | RTT: 100.59 ms</a:t>
            </a:r>
            <a:br/>
            <a:br/>
            <a:r>
              <a:t>AKAR MASALAH:</a:t>
            </a:r>
            <a:br/>
            <a:r>
              <a:t>Co-Channel Interference (CCI) parah pada Kanal 157. AP-L4-05 bertabrakan kanal dengan AP-L4-02 dan sinyal tembus lantai 3, memicu airtime contention.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Desain Solusi 1: Alokasi Sumber Daya (Kanal, Daya, &amp; DFS)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1. Manajemen Kanal &amp; Lebar Pita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Standarisasi Lebar Kanal 40 MHz: Kunci AP ruang kelas pada 40 MHz (bukan 80 MHz) untuk melipatgandakan kanal non-overlapping dari 6 menjadi 12 kanal bersih.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Pemanfaatan Kanal UNII-2 DFS: Aktifkan kanal 52–64 dan 100–140 yang saat ini kosong untuk mendistribusikan AP tanpa saling tumpang tindih.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Isolasi Kanal Bertumpuk: Pisahkan AP-L4-05 (Sayap 4) dari Kanal 157 ke Kanal 60 DFS untuk mengeliminasi CCI pada L4-041.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2563EB"/>
                </a:solidFill>
              </a:defRPr>
            </a:pPr>
            <a:r>
              <a:t>2. Regulasi Daya Pancar (Tx Power)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Turunkan Tx Power AP Indoor: Reduksi dari 20 dBm (100 mW) ke 12–14 dBm (15–25 mW) di seluruh lantai gedung.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Eliminasi Floor Bleed: Penurunan 6 dB memotong radius radiasi vertikal sehingga tidak lagi menembus pelat lantai beton bertulang.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Tautan Simetris: Menyelaraskan daya AP dengan daya pancar balik smartphone/laptop mahasiswa (10–14 dBm), mencegah ACK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Desain Solusi 2: Penempatan AP, Fast Roaming, &amp; Absorber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E3A8A"/>
                </a:solidFill>
              </a:defRPr>
            </a:pPr>
            <a:r>
              <a:t>Penambahan Micro-AP Outdoor (L4-012)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Pemasangan 1 Unit AP Outdoor IP67: Pasang AP berkategori outdoor di dinding fasad balkon luar dekat Titik L4-012.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Peningkatan Sinyal Drastis: Menaikkan RSSI dari -70.2 dBm menjadi &gt; -50 dBm, menjamin konektivitas belajar luar kelas.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Offload Beban Kelas: Mengurangi beban AP-L4-02 di dalam ruang kelas R.4.3.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2563EB"/>
                </a:solidFill>
              </a:defRPr>
            </a:pPr>
            <a:r>
              <a:t>Optimalisasi Roaming (802.11k/v/r)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802.11k (Neighbor Report): Memberi daftar AP kandidat terbaik kepada klien sebelum roaming dilakukan.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802.11v (BSS Transition): WLAN Controller mengarahkan klien berpindah secara proaktif sebelum sinyal drop ke -74 dBm.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802.11r (Fast Roaming): Handoff instan &lt; 50 ms tanpa re-authentication, mencegah lag pada video conference.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6A34A"/>
                </a:solidFill>
              </a:defRPr>
            </a:pPr>
            <a:r>
              <a:t>Mitigasi Akustik / Relokasi Toilet (L4-002)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Absorber Dinding Akustik: Memasang material penyerap di lorong toilet untuk memangkas pantulan gelombang multipath.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Relokasi Antena Koridor: Menjauhkan titik coverage dari ceruk basah toilet guna memulihkan integritas paket (loss 0%).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OPTIMASI INFRASTRUKTUR WI-FI LANTAI 4 — KELOMPOK 3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Pembahasan Kelayakan, Kesimpulan, &amp; Referensi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Analisis Kelayakan &amp; Kesimpulan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Solusi Nol Biaya (Zero-Cost Feasible): Rekonfigurasi kanal ke DFS, penguncian lebar 40 MHz, penurunan Tx Power, dan aktivasi 802.11k/v/r murni pengaturan software WLC (0 rupiah).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Hasil Evaluasi Lantai 4: 97.7% titik berada pada kategori sangat baik (median -45.8 dBm, 0% blank spot).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Tiga Target Perbaikan: Berhasil mengisolasi akar masalah di L4-002 (toilet loss), L4-012 (outdoor), dan L4-041 (Sayap 4 CCI).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Dampak Setelah Optimasi: Eliminasi kontensi CCI, packet loss turun ke 0%, dan roaming mulus di seluruh penjuru lantai.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554480"/>
            <a:ext cx="448056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73736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Referensi &amp; Tautan Proyek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IEEE Std 802.11-2020: Wireless LAN MAC and PHY Specifications.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ITU-R Rec. P.1238-11: Indoor radiocommunication propagation models.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CWNA Study Guide (Coleman &amp; Westcott): WLAN RF &amp; Site Survey Best Practices.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Cambium Wi-Fi Designer: https://wfd.cloud.cambiumnetworks.com/wfdc/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Alokasi Kanal &amp; Daya Kampus: https://drive.google.com/file/d/1wrDiSR_BWOi4GojnB98mjilH_r0wPHPP/</a:t>
            </a:r>
          </a:p>
          <a:p>
            <a:pPr>
              <a:spcAft>
                <a:spcPts val="500"/>
              </a:spcAft>
              <a:defRPr sz="950">
                <a:solidFill>
                  <a:srgbClr val="1E293B"/>
                </a:solidFill>
              </a:defRPr>
            </a:pPr>
            <a:r>
              <a:t>• Denah Master Lantai 4: https://drive.google.com/file/d/1_UiEt6GYGbWl_2iiTG7lb9xzqzQutve6/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